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solidFill>
              <a:srgbClr val="1E8E62"/>
            </a:solidFill>
          </c:spPr>
          <c:cat>
            <c:strRef>
              <c:f>Sheet1!$A$2:$A$7</c:f>
              <c:strCache>
                <c:ptCount val="6"/>
                <c:pt idx="0">
                  <c:v>Linear chain (5 nodes)</c:v>
                </c:pt>
                <c:pt idx="1">
                  <c:v>Conditional routing (if + filter)</c:v>
                </c:pt>
                <c:pt idx="2">
                  <c:v>Fan-out → merge (4 branches)</c:v>
                </c:pt>
                <c:pt idx="3">
                  <c:v>Transform 1,000 records</c:v>
                </c:pt>
                <c:pt idx="4">
                  <c:v>Batch split 10,000 items</c:v>
                </c:pt>
                <c:pt idx="5">
                  <c:v>AI node (offline mock)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C28A2B"/>
            </a:solidFill>
          </c:spPr>
          <c:cat>
            <c:strRef>
              <c:f>Sheet1!$A$2:$A$7</c:f>
              <c:strCache>
                <c:ptCount val="6"/>
                <c:pt idx="0">
                  <c:v>Linear chain (5 nodes)</c:v>
                </c:pt>
                <c:pt idx="1">
                  <c:v>Conditional routing (if + filter)</c:v>
                </c:pt>
                <c:pt idx="2">
                  <c:v>Fan-out → merge (4 branches)</c:v>
                </c:pt>
                <c:pt idx="3">
                  <c:v>Transform 1,000 records</c:v>
                </c:pt>
                <c:pt idx="4">
                  <c:v>Batch split 10,000 items</c:v>
                </c:pt>
                <c:pt idx="5">
                  <c:v>AI node (offline mock)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p99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Linear chain (5 nodes)</c:v>
                </c:pt>
                <c:pt idx="1">
                  <c:v>Conditional routing (if + filter)</c:v>
                </c:pt>
                <c:pt idx="2">
                  <c:v>Fan-out → merge (4 branches)</c:v>
                </c:pt>
                <c:pt idx="3">
                  <c:v>Transform 1,000 records</c:v>
                </c:pt>
                <c:pt idx="4">
                  <c:v>Batch split 10,000 items</c:v>
                </c:pt>
                <c:pt idx="5">
                  <c:v>AI node (offline mock)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3B5BDB"/>
                </a:solidFill>
                <a:latin typeface="Segoe UI"/>
              </a:rPr>
              <a:t>BALOON NATIONAL HACKATHON 2026   ·   ROUND 2   ·   VISUAL WORKFLOW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1417320"/>
            <a:ext cx="822960" cy="32004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 i="0">
                <a:solidFill>
                  <a:srgbClr val="0E1B2E"/>
                </a:solidFill>
                <a:latin typeface="Georgia"/>
              </a:rPr>
              <a:t>FlowForge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310128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455063"/>
                </a:solidFill>
                <a:latin typeface="Segoe UI"/>
              </a:rPr>
              <a:t>From a working prototype to a platform you can trust</a:t>
            </a:r>
          </a:p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455063"/>
                </a:solidFill>
                <a:latin typeface="Segoe UI"/>
              </a:rPr>
              <a:t>in production — verified, hardened, measured, and honest.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4617720"/>
            <a:ext cx="1014984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8463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55063"/>
                </a:solidFill>
                <a:latin typeface="Segoe UI"/>
              </a:rPr>
              <a:t>21 node types   ·   226 conformance checks, 0 failing   ·   4/4 hard guarantees held   ·   100% offline-capable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6692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A68C"/>
                </a:solidFill>
                <a:latin typeface="Consolas"/>
              </a:rPr>
              <a:t>https://github.com/pal-123456789/flowforge-r2      ·      https://flowforge-r2.vercel.app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/>
              </a:rPr>
              <a:t>ROUND 2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2E"/>
                </a:solidFill>
                <a:latin typeface="Georgia"/>
              </a:rPr>
              <a:t>The panel asked for four things. All four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Each item below is a working feature in the product, not a roadmap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254203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2542032" cy="512064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53512"/>
            <a:ext cx="2542032" cy="2560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25420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140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410712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E1B2E"/>
                </a:solidFill>
                <a:latin typeface="Segoe UI"/>
              </a:rPr>
              <a:t>Node Conformance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178808"/>
            <a:ext cx="2057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The platform tests its own 21 node types against registry, schema, executor and behaviour contracts.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" y="5239512"/>
            <a:ext cx="2057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534924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E8B57"/>
                </a:solidFill>
                <a:latin typeface="Consolas"/>
              </a:rPr>
              <a:t>226 checks · 100% · 0 failing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3592" y="2697480"/>
            <a:ext cx="254203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3592" y="2697480"/>
            <a:ext cx="2542032" cy="512064"/>
          </a:xfrm>
          <a:prstGeom prst="roundRect">
            <a:avLst/>
          </a:prstGeom>
          <a:solidFill>
            <a:srgbClr val="2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93592" y="2953512"/>
            <a:ext cx="2542032" cy="256032"/>
          </a:xfrm>
          <a:prstGeom prst="rect">
            <a:avLst/>
          </a:prstGeom>
          <a:solidFill>
            <a:srgbClr val="2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697480"/>
            <a:ext cx="25420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140">
                <a:solidFill>
                  <a:srgbClr val="FFFFFF"/>
                </a:solidFill>
                <a:latin typeface="Segoe UI"/>
              </a:rPr>
              <a:t>HARDEN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3410712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E1B2E"/>
                </a:solidFill>
                <a:latin typeface="Segoe UI"/>
              </a:rPr>
              <a:t>Timeouts, retries, HMAC, 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4178808"/>
            <a:ext cx="2057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Per-node reliability policy, signed webhooks, env-backed secrets, durable storage, and real email delivery.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9624" y="5239512"/>
            <a:ext cx="2057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534924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5CB8"/>
                </a:solidFill>
                <a:latin typeface="Consolas"/>
              </a:rPr>
              <a:t>5 subsystems shipped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2697480"/>
            <a:ext cx="254203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64224" y="2697480"/>
            <a:ext cx="2542032" cy="512064"/>
          </a:xfrm>
          <a:prstGeom prst="round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64224" y="2953512"/>
            <a:ext cx="2542032" cy="256032"/>
          </a:xfrm>
          <a:prstGeom prst="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97480"/>
            <a:ext cx="25420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140">
                <a:solidFill>
                  <a:srgbClr val="FFFFFF"/>
                </a:solidFill>
                <a:latin typeface="Segoe UI"/>
              </a:rPr>
              <a:t>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10712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E1B2E"/>
                </a:solidFill>
                <a:latin typeface="Segoe UI"/>
              </a:rPr>
              <a:t>Benchmark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4178808"/>
            <a:ext cx="2057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6 deterministic workloads reported as p50/p95/p99 percentiles, not averages.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0256" y="5239512"/>
            <a:ext cx="2057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6" y="534924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87A1E"/>
                </a:solidFill>
                <a:latin typeface="Consolas"/>
              </a:rPr>
              <a:t>worst p95 = 2 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34856" y="2697480"/>
            <a:ext cx="254203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34856" y="2697480"/>
            <a:ext cx="2542032" cy="512064"/>
          </a:xfrm>
          <a:prstGeom prst="round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34856" y="2953512"/>
            <a:ext cx="2542032" cy="256032"/>
          </a:xfrm>
          <a:prstGeom prst="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34856" y="2697480"/>
            <a:ext cx="254203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spc="140">
                <a:solidFill>
                  <a:srgbClr val="FFFFFF"/>
                </a:solidFill>
                <a:latin typeface="Segoe UI"/>
              </a:rPr>
              <a:t>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3410712"/>
            <a:ext cx="2057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E1B2E"/>
                </a:solidFill>
                <a:latin typeface="Segoe UI"/>
              </a:rPr>
              <a:t>Failure injection + root-cause diagnosis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4178808"/>
            <a:ext cx="2057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Deliberately break a node and the platform names the cause and the fix instead of printing a stack trace.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90888" y="5239512"/>
            <a:ext cx="2057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90888" y="534924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A83A6E"/>
                </a:solidFill>
                <a:latin typeface="Consolas"/>
              </a:rPr>
              <a:t>14 diagnosis codes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/>
              </a:rPr>
              <a:t>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The platform tests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A readiness probe, not a marketing number — GET /api/health returns 503 if any check fails.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931920" cy="3063240"/>
          </a:xfrm>
          <a:prstGeom prst="roundRect">
            <a:avLst/>
          </a:prstGeom>
          <a:solidFill>
            <a:srgbClr val="EEF2FC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9319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0" b="1" i="0">
                <a:solidFill>
                  <a:srgbClr val="1E8E62"/>
                </a:solidFill>
                <a:latin typeface="Georgia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spc="100">
                <a:solidFill>
                  <a:srgbClr val="455063"/>
                </a:solidFill>
                <a:latin typeface="Segoe UI"/>
              </a:rPr>
              <a:t>conformance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389120"/>
            <a:ext cx="283464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Georgia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68172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3A6"/>
                </a:solidFill>
                <a:latin typeface="Segoe UI"/>
              </a:rPr>
              <a:t>checks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572000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Georg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68172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3A6"/>
                </a:solidFill>
                <a:latin typeface="Segoe UI"/>
              </a:rPr>
              <a:t>checks failing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38928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4865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3A6"/>
                </a:solidFill>
                <a:latin typeface="Segoe UI"/>
              </a:rPr>
              <a:t>skipped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138928"/>
            <a:ext cx="777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E1B2E"/>
                </a:solidFill>
                <a:latin typeface="Georgia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24865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3A6"/>
                </a:solidFill>
                <a:latin typeface="Segoe UI"/>
              </a:rPr>
              <a:t>node types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517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40">
                <a:solidFill>
                  <a:srgbClr val="3B5BDB"/>
                </a:solidFill>
                <a:latin typeface="Segoe UI"/>
              </a:rPr>
              <a:t>FOUR CONTRACT LAYERS, PER NODE 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108960"/>
            <a:ext cx="329184" cy="329184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108960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3090672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2E"/>
                </a:solidFill>
                <a:latin typeface="Segoe UI"/>
              </a:rPr>
              <a:t>Registry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3355848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Label, description, icon, unique output handles, category, input arity.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767328"/>
            <a:ext cx="329184" cy="329184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767328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3749040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2E"/>
                </a:solidFill>
                <a:latin typeface="Segoe UI"/>
              </a:rPr>
              <a:t>Schema 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4014216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Shipped defaults are format- and range-clean; required fields are reported honestly.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4425696"/>
            <a:ext cx="329184" cy="329184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442569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4407408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2E"/>
                </a:solidFill>
                <a:latin typeface="Segoe UI"/>
              </a:rPr>
              <a:t>Executor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4672584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Executor exists, returns a well-formed result, and is deterministic for identical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5084064"/>
            <a:ext cx="329184" cy="329184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5084064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128" y="5065776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2E"/>
                </a:solidFill>
                <a:latin typeface="Segoe UI"/>
              </a:rPr>
              <a:t>Behaviour 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5330952"/>
            <a:ext cx="5852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35 hand-written assertion cases across all 21 node types.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5742432"/>
            <a:ext cx="635508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870448"/>
            <a:ext cx="6355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A93A6"/>
                </a:solidFill>
                <a:latin typeface="Segoe UI"/>
              </a:rPr>
              <a:t>The 2 skipped checks are action.writeFile's invocation — a health check must never write to disk. Reported, not hidden. Suite runs in 1653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/>
              </a:rPr>
              <a:t>HARDEN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Production behaviour, not demo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Six subsystems that change how the engine behaves under stress, attack, and redeploy.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770632"/>
            <a:ext cx="82296" cy="1097280"/>
          </a:xfrm>
          <a:prstGeom prst="rect">
            <a:avLst/>
          </a:prstGeom>
          <a:solidFill>
            <a:srgbClr val="2B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5234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2E"/>
                </a:solidFill>
                <a:latin typeface="Segoe UI"/>
              </a:rPr>
              <a:t>Timeouts that are ceilings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7296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55063"/>
                </a:solidFill>
                <a:latin typeface="Segoe UI"/>
              </a:rPr>
              <a:t>Per-node budget. A 21-node graph cannot stall on one slow call — the budget is enforced with an AbortController.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130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5CB8"/>
                </a:solidFill>
                <a:latin typeface="Consolas"/>
              </a:rPr>
              <a:t>default 15s · max 120s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5146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770632"/>
            <a:ext cx="82296" cy="1097280"/>
          </a:xfrm>
          <a:prstGeom prst="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75234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2E"/>
                </a:solidFill>
                <a:latin typeface="Segoe UI"/>
              </a:rPr>
              <a:t>Retries with 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7296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55063"/>
                </a:solidFill>
                <a:latin typeface="Segoe UI"/>
              </a:rPr>
              <a:t>Exponential backoff, a retry-condition selector, and an attempt count recorded on every node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8130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7A1E"/>
                </a:solidFill>
                <a:latin typeface="Consolas"/>
              </a:rPr>
              <a:t>0–5 retries · up to 5s backoff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5146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770632"/>
            <a:ext cx="82296" cy="1097280"/>
          </a:xfrm>
          <a:prstGeom prst="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75234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2E"/>
                </a:solidFill>
                <a:latin typeface="Segoe UI"/>
              </a:rPr>
              <a:t>Continue-on-error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7296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55063"/>
                </a:solidFill>
                <a:latin typeface="Segoe UI"/>
              </a:rPr>
              <a:t>A failed node no longer kills the run. Downstream receives the error carrier; the run is marked partial.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81304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A83A6E"/>
                </a:solidFill>
                <a:latin typeface="Consolas"/>
              </a:rPr>
              <a:t>status → partial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553712"/>
            <a:ext cx="82296" cy="1097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354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2E"/>
                </a:solidFill>
                <a:latin typeface="Segoe UI"/>
              </a:rPr>
              <a:t>HMAC-signed webhooks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5604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55063"/>
                </a:solidFill>
                <a:latin typeface="Segoe UI"/>
              </a:rPr>
              <a:t>sha256 over the raw body, constant-time comparison, and an optional replay window. Unsigned requests are rejected.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961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8B57"/>
                </a:solidFill>
                <a:latin typeface="Consolas"/>
              </a:rPr>
              <a:t>401 without a valid signature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42976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4553712"/>
            <a:ext cx="82296" cy="1097280"/>
          </a:xfrm>
          <a:prstGeom prst="rect">
            <a:avLst/>
          </a:prstGeom>
          <a:solidFill>
            <a:srgbClr val="1E8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45354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2E"/>
                </a:solidFill>
                <a:latin typeface="Segoe UI"/>
              </a:rPr>
              <a:t>Secrets that never persist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95604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55063"/>
                </a:solidFill>
                <a:latin typeface="Segoe UI"/>
              </a:rPr>
              <a:t>FF_SECRET_* values are substituted into a copy of the config at run time and redacted from logs.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5961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8EA6"/>
                </a:solidFill>
                <a:latin typeface="Consolas"/>
              </a:rPr>
              <a:t>never in stored workflow JSON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29768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4553712"/>
            <a:ext cx="82296" cy="1097280"/>
          </a:xfrm>
          <a:prstGeom prst="rect">
            <a:avLst/>
          </a:prstGeom>
          <a:solidFill>
            <a:srgbClr val="1E8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5354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1B2E"/>
                </a:solidFill>
                <a:latin typeface="Segoe UI"/>
              </a:rPr>
              <a:t>Storage that self-describes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956048"/>
            <a:ext cx="2926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55063"/>
                </a:solidFill>
                <a:latin typeface="Segoe UI"/>
              </a:rPr>
              <a:t>The backend is probed at runtime — remote KV, durable disk, or ephemeral — and the UI says which one is live and why.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596128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E8E62"/>
                </a:solidFill>
                <a:latin typeface="Consolas"/>
              </a:rPr>
              <a:t>live: Project data/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/>
              </a:rPr>
              <a:t>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Real latency, reported honestly.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Benchmark Lab — 6 deterministic offline workloads, 50 iterations each, run through the real engine.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2606040"/>
          <a:ext cx="7223760" cy="31272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2651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10">
                <a:solidFill>
                  <a:srgbClr val="3B5BDB"/>
                </a:solidFill>
                <a:latin typeface="Segoe UI"/>
              </a:rPr>
              <a:t>HARD GUARANTEES — MUST HOLD EVERY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063240"/>
            <a:ext cx="3246120" cy="694944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3136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E62"/>
                </a:solidFill>
                <a:latin typeface="Consolas"/>
              </a:rPr>
              <a:t>✓ run aborted after 24 ms with diagnosis TIMEOUT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342900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93A6"/>
                </a:solidFill>
                <a:latin typeface="Consolas"/>
              </a:rPr>
              <a:t>budget: &lt; 500 ms wall clock, TIMEOUT diagnosis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849624"/>
            <a:ext cx="3246120" cy="694944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392277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E62"/>
                </a:solidFill>
                <a:latin typeface="Consolas"/>
              </a:rPr>
              <a:t>✓ CODE_SYNTAX — "The JavaScript in the Code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421538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93A6"/>
                </a:solidFill>
                <a:latin typeface="Consolas"/>
              </a:rPr>
              <a:t>budget: non-UNKNOWN code plus a suggested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636008"/>
            <a:ext cx="3246120" cy="694944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7091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E62"/>
                </a:solidFill>
                <a:latin typeface="Consolas"/>
              </a:rPr>
              <a:t>✓ status=partial, tolerated=1, downstream ran=tr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500176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93A6"/>
                </a:solidFill>
                <a:latin typeface="Consolas"/>
              </a:rPr>
              <a:t>budget: status = partial, downstream still executed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5422392"/>
            <a:ext cx="3246120" cy="694944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549554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8E62"/>
                </a:solidFill>
                <a:latin typeface="Consolas"/>
              </a:rPr>
              <a:t>✓ simulated=true, run flagged anySimulated=true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57881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93A6"/>
                </a:solidFill>
                <a:latin typeface="Consolas"/>
              </a:rPr>
              <a:t>budget: simulated flag set on the node and on the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852160"/>
            <a:ext cx="722376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61888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55063"/>
                </a:solidFill>
                <a:latin typeface="Consolas"/>
              </a:rPr>
              <a:t>worst p95 2 ms   ·   best 16,667 exec/sec   ·   0 failed runs   ·   0 guarantees violated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A83A6E"/>
                </a:solidFill>
                <a:latin typeface="Segoe UI"/>
              </a:rPr>
              <a:t>PRESENT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Break it on purpose. Then name the cause.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Failure injection is a first-class control: switch it on for any node and watch the platform diagnose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6035040" cy="3108960"/>
          </a:xfrm>
          <a:prstGeom prst="roundRect">
            <a:avLst/>
          </a:prstGeom>
          <a:solidFill>
            <a:srgbClr val="11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1EA68C"/>
                </a:solidFill>
                <a:latin typeface="Segoe UI"/>
              </a:rPr>
              <a:t>WHAT THE USER ACTUALLY SEES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246120"/>
            <a:ext cx="960120" cy="310896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nsolas"/>
              </a:rPr>
              <a:t>CODE_SYNTAX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461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JavaScript could not be parsed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0332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8D4E8"/>
                </a:solidFill>
                <a:latin typeface="Segoe UI"/>
              </a:rPr>
              <a:t>The Code node's script failed to parse, so the node never ran. This is a syntax error in your code, not a FlowForge 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526280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444398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DE6F6"/>
                </a:solidFill>
                <a:latin typeface="Segoe UI"/>
              </a:rPr>
              <a:t>Fix: check for a missing bracket or a trailing comma in the Code node.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29200"/>
            <a:ext cx="5394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93A6"/>
                </a:solidFill>
                <a:latin typeface="Segoe UI"/>
              </a:rPr>
              <a:t>Injected failures are always logged with a 🧪 warning, and a raw stack trace is only shown when no classification applies.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6517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B5BDB"/>
                </a:solidFill>
                <a:latin typeface="Segoe UI"/>
              </a:rPr>
              <a:t>14 CLASSIFIED FAILURE CODES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108960"/>
            <a:ext cx="1371600" cy="292608"/>
          </a:xfrm>
          <a:prstGeom prst="roundRect">
            <a:avLst/>
          </a:prstGeom>
          <a:noFill/>
          <a:ln w="11430">
            <a:solidFill>
              <a:srgbClr val="C2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1089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28A2B"/>
                </a:solidFill>
                <a:latin typeface="Consolas"/>
              </a:rPr>
              <a:t>TIMEOUT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5088" y="3108960"/>
            <a:ext cx="1371600" cy="292608"/>
          </a:xfrm>
          <a:prstGeom prst="roundRect">
            <a:avLst/>
          </a:prstGeom>
          <a:noFill/>
          <a:ln w="1143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31089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5BDB"/>
                </a:solidFill>
                <a:latin typeface="Consolas"/>
              </a:rPr>
              <a:t>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86416" y="3108960"/>
            <a:ext cx="1371600" cy="292608"/>
          </a:xfrm>
          <a:prstGeom prst="roundRect">
            <a:avLst/>
          </a:prstGeom>
          <a:noFill/>
          <a:ln w="11430">
            <a:solidFill>
              <a:srgbClr val="C2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31089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28A2B"/>
                </a:solidFill>
                <a:latin typeface="Consolas"/>
              </a:rPr>
              <a:t>HTTP_STATUS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566160"/>
            <a:ext cx="1371600" cy="292608"/>
          </a:xfrm>
          <a:prstGeom prst="roundRect">
            <a:avLst/>
          </a:prstGeom>
          <a:noFill/>
          <a:ln w="1143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5661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0392B"/>
                </a:solidFill>
                <a:latin typeface="Consolas"/>
              </a:rPr>
              <a:t>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05088" y="3566160"/>
            <a:ext cx="1371600" cy="292608"/>
          </a:xfrm>
          <a:prstGeom prst="roundRect">
            <a:avLst/>
          </a:prstGeom>
          <a:noFill/>
          <a:ln w="11430">
            <a:solidFill>
              <a:srgbClr val="C2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5088" y="35661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28A2B"/>
                </a:solidFill>
                <a:latin typeface="Consolas"/>
              </a:rPr>
              <a:t>RATE_LIMIT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86416" y="3566160"/>
            <a:ext cx="1371600" cy="292608"/>
          </a:xfrm>
          <a:prstGeom prst="roundRect">
            <a:avLst/>
          </a:prstGeom>
          <a:noFill/>
          <a:ln w="1143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35661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0392B"/>
                </a:solidFill>
                <a:latin typeface="Consolas"/>
              </a:rPr>
              <a:t>INVALID_URL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023360"/>
            <a:ext cx="1371600" cy="292608"/>
          </a:xfrm>
          <a:prstGeom prst="roundRect">
            <a:avLst/>
          </a:prstGeom>
          <a:noFill/>
          <a:ln w="1143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40233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0392B"/>
                </a:solidFill>
                <a:latin typeface="Consolas"/>
              </a:rP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05088" y="4023360"/>
            <a:ext cx="1371600" cy="292608"/>
          </a:xfrm>
          <a:prstGeom prst="roundRect">
            <a:avLst/>
          </a:prstGeom>
          <a:noFill/>
          <a:ln w="11430">
            <a:solidFill>
              <a:srgbClr val="A8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40233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83A6E"/>
                </a:solidFill>
                <a:latin typeface="Consolas"/>
              </a:rPr>
              <a:t>CODE_SYNTAX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86416" y="4023360"/>
            <a:ext cx="1371600" cy="292608"/>
          </a:xfrm>
          <a:prstGeom prst="roundRect">
            <a:avLst/>
          </a:prstGeom>
          <a:noFill/>
          <a:ln w="11430">
            <a:solidFill>
              <a:srgbClr val="A8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86416" y="40233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83A6E"/>
                </a:solidFill>
                <a:latin typeface="Consolas"/>
              </a:rPr>
              <a:t>CODE_RUNTIME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4480560"/>
            <a:ext cx="1371600" cy="292608"/>
          </a:xfrm>
          <a:prstGeom prst="roundRect">
            <a:avLst/>
          </a:prstGeom>
          <a:noFill/>
          <a:ln w="11430">
            <a:solidFill>
              <a:srgbClr val="A8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4805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83A6E"/>
                </a:solidFill>
                <a:latin typeface="Consolas"/>
              </a:rPr>
              <a:t>EXPRESSION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05088" y="4480560"/>
            <a:ext cx="1371600" cy="292608"/>
          </a:xfrm>
          <a:prstGeom prst="roundRect">
            <a:avLst/>
          </a:prstGeom>
          <a:noFill/>
          <a:ln w="1143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5088" y="44805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0392B"/>
                </a:solidFill>
                <a:latin typeface="Consolas"/>
              </a:rPr>
              <a:t>FILE_WRITE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86416" y="4480560"/>
            <a:ext cx="1371600" cy="292608"/>
          </a:xfrm>
          <a:prstGeom prst="roundRect">
            <a:avLst/>
          </a:prstGeom>
          <a:noFill/>
          <a:ln w="1143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86416" y="44805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5BDB"/>
                </a:solidFill>
                <a:latin typeface="Consolas"/>
              </a:rPr>
              <a:t>MISSING_INPUT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4937760"/>
            <a:ext cx="1371600" cy="292608"/>
          </a:xfrm>
          <a:prstGeom prst="roundRect">
            <a:avLst/>
          </a:prstGeom>
          <a:noFill/>
          <a:ln w="11430">
            <a:solidFill>
              <a:srgbClr val="A8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9377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A83A6E"/>
                </a:solidFill>
                <a:latin typeface="Consolas"/>
              </a:rPr>
              <a:t>INJECTED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088" y="4937760"/>
            <a:ext cx="1371600" cy="292608"/>
          </a:xfrm>
          <a:prstGeom prst="roundRect">
            <a:avLst/>
          </a:prstGeom>
          <a:noFill/>
          <a:ln w="11430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5088" y="4937760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B5BDB"/>
                </a:solidFill>
                <a:latin typeface="Consolas"/>
              </a:rPr>
              <a:t>UNKNOWN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5486400"/>
            <a:ext cx="4343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5596128"/>
            <a:ext cx="4343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93A6"/>
                </a:solidFill>
                <a:latin typeface="Segoe UI"/>
              </a:rPr>
              <a:t>Each code carries a cause and a concrete fix. An explicit “Category:” prefix in the error message is treated as authoritative.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B87A1E"/>
                </a:solidFill>
                <a:latin typeface="Segoe UI"/>
              </a:rPr>
              <a:t>HUMAN IN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Some decisions should not be automated.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A new Approval node pauses the entire run, waits for a person, and then routes on the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2542032" cy="420624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62656"/>
            <a:ext cx="2542032" cy="201168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542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20">
                <a:solidFill>
                  <a:srgbClr val="FFFFFF"/>
                </a:solidFill>
                <a:latin typeface="Consolas"/>
              </a:rPr>
              <a:t>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64992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Run executes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up to the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324612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A93A6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743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93592" y="2743200"/>
            <a:ext cx="2542032" cy="420624"/>
          </a:xfrm>
          <a:prstGeom prst="roundRect">
            <a:avLst/>
          </a:prstGeom>
          <a:solidFill>
            <a:srgbClr val="C2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93592" y="2962656"/>
            <a:ext cx="2542032" cy="201168"/>
          </a:xfrm>
          <a:prstGeom prst="rect">
            <a:avLst/>
          </a:prstGeom>
          <a:solidFill>
            <a:srgbClr val="C2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743200"/>
            <a:ext cx="2542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20">
                <a:solidFill>
                  <a:srgbClr val="FFFFFF"/>
                </a:solidFill>
                <a:latin typeface="Consolas"/>
              </a:rPr>
              <a:t>PAUSED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3364992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Run stops.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Nothing downstream ran.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24612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A93A6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64224" y="2743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64224" y="2743200"/>
            <a:ext cx="2542032" cy="420624"/>
          </a:xfrm>
          <a:prstGeom prst="roundRect">
            <a:avLst/>
          </a:prstGeom>
          <a:solidFill>
            <a:srgbClr val="1E8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64224" y="2962656"/>
            <a:ext cx="2542032" cy="201168"/>
          </a:xfrm>
          <a:prstGeom prst="rect">
            <a:avLst/>
          </a:prstGeom>
          <a:solidFill>
            <a:srgbClr val="1E8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743200"/>
            <a:ext cx="2542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20">
                <a:solidFill>
                  <a:srgbClr val="FFFFFF"/>
                </a:solidFill>
                <a:latin typeface="Consolas"/>
              </a:rPr>
              <a:t>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3364992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Approved branch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executes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324612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8A93A6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4856" y="2743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34856" y="2743200"/>
            <a:ext cx="2542032" cy="42062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34856" y="2962656"/>
            <a:ext cx="2542032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2743200"/>
            <a:ext cx="25420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20">
                <a:solidFill>
                  <a:srgbClr val="FFFFFF"/>
                </a:solidFill>
                <a:latin typeface="Consolas"/>
              </a:rPr>
              <a:t>REJECTED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364992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Rejected branch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executes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681728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59943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2E"/>
                </a:solidFill>
                <a:latin typeface="Segoe UI"/>
              </a:rPr>
              <a:t>The gate is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599432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Downstream nodes are marked skipped — the platform never pretends work happened.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230368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514807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2E"/>
                </a:solidFill>
                <a:latin typeface="Segoe UI"/>
              </a:rPr>
              <a:t>The decision is audited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148072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The paused run keeps the decision, the note, and who made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779008"/>
            <a:ext cx="109728" cy="109728"/>
          </a:xfrm>
          <a:prstGeom prst="round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69671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2E"/>
                </a:solidFill>
                <a:latin typeface="Segoe UI"/>
              </a:rPr>
              <a:t>The timeline stays whole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696712"/>
            <a:ext cx="8321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Resuming re-executes from the gate and stitches the earlier results back in.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1E8E62"/>
                </a:solidFill>
                <a:latin typeface="Segoe UI"/>
              </a:rPr>
              <a:t>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1E8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2E"/>
                </a:solidFill>
                <a:latin typeface="Georgia"/>
              </a:rPr>
              <a:t>A simulated side effect is never shown as a real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The single rule that decides whether an automation platform is safe to depend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5257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5257800" cy="420624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07792"/>
            <a:ext cx="5257800" cy="21031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25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20">
                <a:solidFill>
                  <a:srgbClr val="FFFFFF"/>
                </a:solidFill>
                <a:latin typeface="Segoe UI"/>
              </a:rPr>
              <a:t>WITHOUT A CREDENTIAL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91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2E"/>
                </a:solidFill>
                <a:latin typeface="Segoe UI"/>
              </a:rPr>
              <a:t>Email node · mock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0332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Nothing is delivered. The run log prints an explicit SIMULATED warning, the node result carries simulated = true, and the run itself is flagged anySimulated = true.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709160"/>
            <a:ext cx="4343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463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A93A6"/>
                </a:solidFill>
                <a:latin typeface="Segoe UI"/>
              </a:rPr>
              <a:t>The run list shows a SIMULATED badge. A judge running the demo with zero API keys sees the truth, not a fake success.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697480"/>
            <a:ext cx="5257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  <a:effectLst>
            <a:outerShdw blurRad="90000" dist="30000" dir="5400000" rotWithShape="0">
              <a:srgbClr val="0E1B2E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55080" y="2697480"/>
            <a:ext cx="5257800" cy="420624"/>
          </a:xfrm>
          <a:prstGeom prst="roundRect">
            <a:avLst/>
          </a:prstGeom>
          <a:solidFill>
            <a:srgbClr val="1E8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907792"/>
            <a:ext cx="5257800" cy="210312"/>
          </a:xfrm>
          <a:prstGeom prst="rect">
            <a:avLst/>
          </a:prstGeom>
          <a:solidFill>
            <a:srgbClr val="1E8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97480"/>
            <a:ext cx="5257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20">
                <a:solidFill>
                  <a:srgbClr val="FFFFFF"/>
                </a:solidFill>
                <a:latin typeface="Segoe UI"/>
              </a:rPr>
              <a:t>WITH A CREDENTIAL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91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2E"/>
                </a:solidFill>
                <a:latin typeface="Segoe UI"/>
              </a:rPr>
              <a:t>Email node · Resend or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0332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55063"/>
                </a:solidFill>
                <a:latin typeface="Segoe UI"/>
              </a:rPr>
              <a:t>A live POST to the Resend API or your own mail gateway. The recipient is validated first, the response is captured, and the delivery mode is recorded as live.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709160"/>
            <a:ext cx="434340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A93A6"/>
                </a:solidFill>
                <a:latin typeface="Segoe UI"/>
              </a:rPr>
              <a:t>Same node, same graph, same code path — only the transport changes, and the UI always says which one ran.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One registry, one engine, two hosts.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The editor, the validator, the conformance suite and the runtime all read the same node definitions.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87168"/>
            <a:ext cx="1554480" cy="777240"/>
          </a:xfrm>
          <a:prstGeom prst="round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00">
                <a:solidFill>
                  <a:srgbClr val="FFFFFF"/>
                </a:solidFill>
                <a:latin typeface="Segoe UI"/>
              </a:rPr>
              <a:t>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487168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48716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React Flow canvas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487168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248716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Inspector + reliability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487168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248716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Conformance + Benchmarks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487168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8" y="2487168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Command palette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1554480" cy="777240"/>
          </a:xfrm>
          <a:prstGeom prst="roundRect">
            <a:avLst/>
          </a:prstGeom>
          <a:solidFill>
            <a:srgbClr val="B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0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338328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3383280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DAG analysis (Kahn)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38328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3383280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Branch routing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38328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3383280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Policy: timeout · retry · backoff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38328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3383280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Failure classifier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79392"/>
            <a:ext cx="1554480" cy="777240"/>
          </a:xfrm>
          <a:prstGeom prst="roundRect">
            <a:avLst/>
          </a:prstGeom>
          <a:solidFill>
            <a:srgbClr val="A8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79392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00">
                <a:solidFill>
                  <a:srgbClr val="FFFFFF"/>
                </a:solidFill>
                <a:latin typeface="Segoe UI"/>
              </a:rPr>
              <a:t>EXECUTORS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4279392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4279392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21 node executors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4279392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4279392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Secrets substitution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3720" y="4279392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13448" y="4279392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HTTP · SMTP ·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279392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4279392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Injected fetch for hermetic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175504"/>
            <a:ext cx="155448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175504"/>
            <a:ext cx="1554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 spc="100">
                <a:solidFill>
                  <a:srgbClr val="FFFFFF"/>
                </a:solidFill>
                <a:latin typeface="Segoe UI"/>
              </a:rPr>
              <a:t>STORAGE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06040" y="5175504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5768" y="5175504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Durable KV (Upstash)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5175504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5175504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Local disk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03720" y="5175504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13448" y="5175504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Ephemeral / memory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5175504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288" y="5175504"/>
            <a:ext cx="17465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0E1B2E"/>
                </a:solidFill>
                <a:latin typeface="Segoe UI"/>
              </a:rPr>
              <a:t>Probed at runtime — mode is surfaced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0533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8A93A6"/>
                </a:solidFill>
                <a:latin typeface="Segoe UI"/>
              </a:rPr>
              <a:t>The browser and the server run the identical engine — 226 checks run offline with zero network traffic.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3B5BDB"/>
                </a:solidFill>
                <a:latin typeface="Segoe UI"/>
              </a:rPr>
              <a:t>ROUND 1 → ROUND 2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E1B2E"/>
                </a:solidFill>
                <a:latin typeface="Georgia"/>
              </a:rPr>
              <a:t>What actually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Every row is a shipped, verifiable difference — not a promise.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834640"/>
                <a:gridCol w="3474720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T="38100" marB="38100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Round 1</a:t>
                      </a:r>
                    </a:p>
                  </a:txBody>
                  <a:tcPr marT="38100" marB="38100">
                    <a:solidFill>
                      <a:srgbClr val="11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Round 2 (shipped)</a:t>
                      </a:r>
                    </a:p>
                  </a:txBody>
                  <a:tcPr marT="38100" marB="38100">
                    <a:solidFill>
                      <a:srgbClr val="11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Node types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Automated tests of the product itself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226 conformance checks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Timeouts / retries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per-node policy, enforced ceiling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Webhook security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open endpoint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HMAC-SHA256 + replay window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Secrets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plaintext in config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env-backed, never persisted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Storage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in-memory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probed, durable where possible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Email delivery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simulated only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live via Resend / gateway, labelled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Failure reporting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raw error text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14-code root-cause diagnosis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Human oversight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Approval gate with audit trail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1B2E"/>
                          </a:solidFill>
                          <a:latin typeface="Segoe UI"/>
                        </a:rPr>
                        <a:t>Performance evidence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8A93A6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8E62"/>
                          </a:solidFill>
                          <a:latin typeface="Segoe UI"/>
                        </a:rPr>
                        <a:t>benchmark lab, p50/p95/p99</a:t>
                      </a:r>
                    </a:p>
                  </a:txBody>
                  <a:tcPr marT="25400" marB="25400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60">
                <a:solidFill>
                  <a:srgbClr val="8A93A6"/>
                </a:solidFill>
                <a:latin typeface="Segoe U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24128"/>
            <a:ext cx="548640" cy="27432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E1B2E"/>
                </a:solidFill>
                <a:latin typeface="Georgia"/>
              </a:rPr>
              <a:t>What I would build next — and what I did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55063"/>
                </a:solidFill>
                <a:latin typeface="Segoe UI"/>
              </a:rPr>
              <a:t>Named honestly, because a roadmap is a claim and a lie is a defect.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82296" cy="1481328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8072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1B2E"/>
                </a:solidFill>
                <a:latin typeface="Segoe UI"/>
              </a:rPr>
              <a:t>Real 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246120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Cron and interval triggers are modelled and validated, but the server does not yet poll on a wall clock. A durable scheduler with leader election is the next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606040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606040"/>
            <a:ext cx="82296" cy="1481328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28072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1B2E"/>
                </a:solidFill>
                <a:latin typeface="Segoe UI"/>
              </a:rPr>
              <a:t>True per-item iteration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3246120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Batch Split hands a bounded batch downstream in one pass. A real Loop node with per-item context and bounded concurrency is the honest upgrade.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25112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325112"/>
            <a:ext cx="82296" cy="1481328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5262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1B2E"/>
                </a:solidFill>
                <a:latin typeface="Segoe UI"/>
              </a:rPr>
              <a:t>Multi-tenant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965192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There is no login. Runs and workflows are single-tenant; adding identity and per-user secret scoping is the next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325112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4325112"/>
            <a:ext cx="82296" cy="1481328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45262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E1B2E"/>
                </a:solidFill>
                <a:latin typeface="Segoe UI"/>
              </a:rPr>
              <a:t>Bigger blast radius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4965192"/>
            <a:ext cx="4617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55063"/>
                </a:solidFill>
                <a:latin typeface="Segoe UI"/>
              </a:rPr>
              <a:t>The engine is single-process. Horizontal scale needs a durable queue and a lease-based executor — a real project, not a weekend.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943600"/>
            <a:ext cx="1078992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533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3A6"/>
                </a:solidFill>
                <a:latin typeface="Segoe UI"/>
              </a:rPr>
              <a:t>The same disclosure is published in the repository — the product's honesty is auditable, not promised.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3A6"/>
                </a:solidFill>
                <a:latin typeface="Consolas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20">
                <a:solidFill>
                  <a:srgbClr val="8A93A6"/>
                </a:solidFill>
                <a:latin typeface="Segoe UI"/>
              </a:rPr>
              <a:t>FlowForge  ·  Round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i="0">
                <a:solidFill>
                  <a:srgbClr val="0E1B2E"/>
                </a:solidFill>
                <a:latin typeface="Georgia"/>
              </a:rPr>
              <a:t>FlowForge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" y="2788920"/>
            <a:ext cx="822960" cy="32004"/>
          </a:xfrm>
          <a:prstGeom prst="rect">
            <a:avLst/>
          </a:prstGeom>
          <a:solidFill>
            <a:srgbClr val="1E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 i="1">
                <a:solidFill>
                  <a:srgbClr val="455063"/>
                </a:solidFill>
                <a:latin typeface="Georgia"/>
              </a:rPr>
              <a:t>Automation you can verify, harden, measure — and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8862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B5BDB"/>
                </a:solidFill>
                <a:latin typeface="Segoe UI"/>
              </a:rPr>
              <a:t>Now — let's watch it fail, and watch it explain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4754880"/>
            <a:ext cx="10149840" cy="13716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9834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A68C"/>
                </a:solidFill>
                <a:latin typeface="Consolas"/>
              </a:rPr>
              <a:t>https://github.com/pal-123456789/flowforge-r2      ·      https://flowforge-r2.vercel.app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864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6"/>
                </a:solidFill>
                <a:latin typeface="Consolas"/>
              </a:rPr>
              <a:t>Live endpoints:  /api/health  ·  /api/benchmarks  ·  /api/webhook/&lt;id&gt;  ·  /api/runs/&lt;id&gt;/resume      |      226 checks · 4/4 guarantees · 21 node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